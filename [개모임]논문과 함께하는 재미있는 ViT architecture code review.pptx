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64" r:id="rId5"/>
    <p:sldId id="266" r:id="rId6"/>
    <p:sldId id="300" r:id="rId7"/>
    <p:sldId id="304" r:id="rId8"/>
    <p:sldId id="301" r:id="rId9"/>
    <p:sldId id="297" r:id="rId10"/>
    <p:sldId id="302" r:id="rId11"/>
    <p:sldId id="303" r:id="rId12"/>
    <p:sldId id="279" r:id="rId13"/>
    <p:sldId id="309" r:id="rId14"/>
    <p:sldId id="306" r:id="rId15"/>
    <p:sldId id="305" r:id="rId16"/>
    <p:sldId id="280" r:id="rId17"/>
    <p:sldId id="281" r:id="rId18"/>
    <p:sldId id="31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pos="347" userDrawn="1">
          <p15:clr>
            <a:srgbClr val="A4A3A4"/>
          </p15:clr>
        </p15:guide>
        <p15:guide id="5" orient="horz" pos="3906" userDrawn="1">
          <p15:clr>
            <a:srgbClr val="A4A3A4"/>
          </p15:clr>
        </p15:guide>
        <p15:guide id="6" orient="horz" pos="10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연수 박" initials="연박" lastIdx="1" clrIdx="0">
    <p:extLst>
      <p:ext uri="{19B8F6BF-5375-455C-9EA6-DF929625EA0E}">
        <p15:presenceInfo xmlns:p15="http://schemas.microsoft.com/office/powerpoint/2012/main" userId="S-1-5-21-732158224-1976517921-2419445201-5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E2"/>
    <a:srgbClr val="5855FF"/>
    <a:srgbClr val="0070C0"/>
    <a:srgbClr val="F3F5FE"/>
    <a:srgbClr val="3983FC"/>
    <a:srgbClr val="01384A"/>
    <a:srgbClr val="005227"/>
    <a:srgbClr val="F2F2F2"/>
    <a:srgbClr val="6D706A"/>
    <a:srgbClr val="FBC6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37" autoAdjust="0"/>
    <p:restoredTop sz="88497" autoAdjust="0"/>
  </p:normalViewPr>
  <p:slideViewPr>
    <p:cSldViewPr snapToGrid="0" showGuides="1">
      <p:cViewPr>
        <p:scale>
          <a:sx n="96" d="100"/>
          <a:sy n="96" d="100"/>
        </p:scale>
        <p:origin x="1424" y="232"/>
      </p:cViewPr>
      <p:guideLst>
        <p:guide orient="horz" pos="391"/>
        <p:guide pos="7355"/>
        <p:guide pos="347"/>
        <p:guide orient="horz" pos="3906"/>
        <p:guide orient="horz" pos="10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578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DD21606-E1F2-4B97-92D1-DAFD45C02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DE7504-E995-4FB2-8A43-D5D7468BF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2224D-1184-45AE-8BA6-1991448FAB4A}" type="datetimeFigureOut">
              <a:rPr lang="ko-KR" altLang="en-US" smtClean="0"/>
              <a:t>2026. 2. 12.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423F3-CAF7-4940-839A-645C7FDAD4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01FC86-7DA0-458D-A79F-F298A2B27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E0067-DAD4-47D5-9E01-EB118C352F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8865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B575A-33D8-471D-8367-A965AB842AA0}" type="datetimeFigureOut">
              <a:rPr lang="ko-KR" altLang="en-US" smtClean="0"/>
              <a:t>2026. 2. 12.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702A0-409D-4B63-B3B2-61BA02D306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2954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57D3-18B3-2CC7-3EA5-D808ADB6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23AB17-7938-1040-2D11-4F4961D33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76A992-69D7-07BD-1FF0-5A21A6D2B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78052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ACB000-13BB-FD51-8B34-8AAF1BD36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507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1EEE7-F4AF-CB56-6152-675A124A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8B7284-EE91-AB1F-D7C5-6500C1514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A3D6B-77E2-DAA7-CB85-5A699EFCD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78052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1CA1F2-74E2-1EC0-8DA9-14C4538EF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094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78EAC-624F-6566-32E6-5F7A4C023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46EAB2-603C-565B-1421-67F99CDC1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8EC50B-F685-A224-85C5-7BD12E981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78052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49CDA2-FA66-1418-E769-D1A7AC34D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6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78052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704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722B-73B3-379B-111F-F45639825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738024-152B-F076-9777-6E027709F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F3F90D-969F-BE7C-EFE0-3714A30EB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B0957-46A5-30CA-1285-00B040299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624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0BAB-715E-4F23-48EC-469C316F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3EBCB5-9942-CFC0-C8A8-475C8FDF0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C9367D-9B2D-E82C-9F76-409B6CF6A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88183D-F396-0378-53EF-3C83A41FE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746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156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008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702A0-409D-4B63-B3B2-61BA02D306D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178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35A6798-A32E-4EBF-9AB0-7A9CA8F6AF0E}"/>
              </a:ext>
            </a:extLst>
          </p:cNvPr>
          <p:cNvCxnSpPr>
            <a:cxnSpLocks/>
          </p:cNvCxnSpPr>
          <p:nvPr userDrawn="1"/>
        </p:nvCxnSpPr>
        <p:spPr>
          <a:xfrm>
            <a:off x="400050" y="990600"/>
            <a:ext cx="8848725" cy="0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43295E7A-DB9D-4C14-A222-902FE98D87F8}"/>
              </a:ext>
            </a:extLst>
          </p:cNvPr>
          <p:cNvGrpSpPr/>
          <p:nvPr userDrawn="1"/>
        </p:nvGrpSpPr>
        <p:grpSpPr>
          <a:xfrm>
            <a:off x="9053934" y="6025705"/>
            <a:ext cx="3222167" cy="868498"/>
            <a:chOff x="9053934" y="6025705"/>
            <a:chExt cx="3222167" cy="86849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6D92F0E-9E86-4280-A408-E77B01F57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34" y="6187705"/>
              <a:ext cx="1827639" cy="472091"/>
            </a:xfrm>
            <a:prstGeom prst="rect">
              <a:avLst/>
            </a:prstGeom>
          </p:spPr>
        </p:pic>
        <p:pic>
          <p:nvPicPr>
            <p:cNvPr id="8" name="그림 7" descr="그림, 그래픽, 스케치, 텍스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09CA2DE6-BFF8-4A81-9F19-4E5D2E744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960" b="89934" l="9740" r="89921">
                          <a14:foregroundMark x1="26161" y1="10726" x2="36580" y2="6601"/>
                          <a14:foregroundMark x1="36580" y1="6601" x2="57644" y2="8993"/>
                          <a14:foregroundMark x1="57644" y1="8993" x2="57418" y2="8993"/>
                          <a14:foregroundMark x1="11835" y1="40759" x2="10362" y2="33663"/>
                          <a14:foregroundMark x1="32163" y1="6106" x2="42525" y2="5693"/>
                          <a14:foregroundMark x1="42525" y1="5693" x2="51982" y2="6518"/>
                          <a14:foregroundMark x1="34768" y1="5693" x2="45640" y2="4868"/>
                          <a14:foregroundMark x1="45640" y1="4868" x2="47395" y2="4868"/>
                          <a14:foregroundMark x1="70895" y1="50825" x2="25311" y2="49175"/>
                          <a14:foregroundMark x1="71178" y1="47030" x2="20159" y2="46617"/>
                          <a14:foregroundMark x1="74915" y1="51650" x2="16421" y2="49587"/>
                          <a14:foregroundMark x1="16421" y1="49587" x2="16421" y2="49587"/>
                          <a14:foregroundMark x1="19253" y1="47855" x2="42922" y2="51238"/>
                          <a14:foregroundMark x1="42922" y1="51238" x2="31540" y2="51733"/>
                          <a14:foregroundMark x1="31540" y1="51733" x2="50057" y2="51980"/>
                          <a14:foregroundMark x1="50057" y1="51980" x2="22650" y2="51073"/>
                          <a14:foregroundMark x1="22650" y1="51073" x2="55719" y2="52888"/>
                          <a14:foregroundMark x1="55719" y1="52888" x2="66421" y2="52723"/>
                          <a14:foregroundMark x1="66421" y1="52723" x2="53284" y2="51238"/>
                          <a14:foregroundMark x1="53284" y1="51238" x2="58550" y2="52888"/>
                          <a14:foregroundMark x1="10985" y1="47855" x2="9796" y2="34076"/>
                          <a14:foregroundMark x1="34202" y1="5281" x2="45017" y2="3960"/>
                          <a14:foregroundMark x1="45017" y1="3960" x2="54247" y2="528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0616" y="6025705"/>
              <a:ext cx="1265485" cy="868498"/>
            </a:xfrm>
            <a:prstGeom prst="rect">
              <a:avLst/>
            </a:prstGeom>
            <a:noFill/>
          </p:spPr>
        </p:pic>
      </p:grp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D1B8643F-7E7A-4008-A98B-E0599A22F1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387607"/>
            <a:ext cx="5559425" cy="73025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Title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  <a:p>
            <a:pPr lvl="1"/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1759FD05-F366-43A1-A317-0B6EF5349131}"/>
              </a:ext>
            </a:extLst>
          </p:cNvPr>
          <p:cNvSpPr txBox="1">
            <a:spLocks/>
          </p:cNvSpPr>
          <p:nvPr userDrawn="1"/>
        </p:nvSpPr>
        <p:spPr>
          <a:xfrm>
            <a:off x="548640" y="5579430"/>
            <a:ext cx="5390766" cy="4462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Department of Computer Engineering and Artificial Intelligence</a:t>
            </a:r>
          </a:p>
          <a:p>
            <a:r>
              <a:rPr lang="en-US" altLang="ko-KR" sz="1400" dirty="0">
                <a:solidFill>
                  <a:prstClr val="black">
                    <a:lumMod val="95000"/>
                    <a:lumOff val="5000"/>
                  </a:prst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MAI Lab.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C38B4195-1E35-4CF2-9924-C80EDCE547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6097356"/>
            <a:ext cx="1539584" cy="33965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Name here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195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1F98224-727B-41E2-999D-B3639A0CE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‹#›</a:t>
            </a:fld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14CCA6-BDD4-4A06-AB8F-5CA31CEB3F5E}"/>
              </a:ext>
            </a:extLst>
          </p:cNvPr>
          <p:cNvCxnSpPr/>
          <p:nvPr userDrawn="1"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49A1B3C3-F389-4237-849C-78172906054C}"/>
              </a:ext>
            </a:extLst>
          </p:cNvPr>
          <p:cNvGrpSpPr/>
          <p:nvPr userDrawn="1"/>
        </p:nvGrpSpPr>
        <p:grpSpPr>
          <a:xfrm>
            <a:off x="9718787" y="127698"/>
            <a:ext cx="2473213" cy="634302"/>
            <a:chOff x="9718787" y="127698"/>
            <a:chExt cx="2473213" cy="63430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3CA86AE-DB38-4514-BE62-ACCEB2113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8787" y="208934"/>
              <a:ext cx="1548974" cy="400110"/>
            </a:xfrm>
            <a:prstGeom prst="rect">
              <a:avLst/>
            </a:prstGeom>
          </p:spPr>
        </p:pic>
        <p:pic>
          <p:nvPicPr>
            <p:cNvPr id="7" name="그림 6" descr="그림, 그래픽, 스케치, 텍스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672308A-0A30-433A-AC9D-98686BF13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960" b="89934" l="9740" r="89921">
                          <a14:foregroundMark x1="26161" y1="10726" x2="36580" y2="6601"/>
                          <a14:foregroundMark x1="36580" y1="6601" x2="57644" y2="8993"/>
                          <a14:foregroundMark x1="57644" y1="8993" x2="57418" y2="8993"/>
                          <a14:foregroundMark x1="11835" y1="40759" x2="10362" y2="33663"/>
                          <a14:foregroundMark x1="32163" y1="6106" x2="42525" y2="5693"/>
                          <a14:foregroundMark x1="42525" y1="5693" x2="51982" y2="6518"/>
                          <a14:foregroundMark x1="34768" y1="5693" x2="45640" y2="4868"/>
                          <a14:foregroundMark x1="45640" y1="4868" x2="47395" y2="4868"/>
                          <a14:foregroundMark x1="70895" y1="50825" x2="25311" y2="49175"/>
                          <a14:foregroundMark x1="71178" y1="47030" x2="20159" y2="46617"/>
                          <a14:foregroundMark x1="74915" y1="51650" x2="16421" y2="49587"/>
                          <a14:foregroundMark x1="16421" y1="49587" x2="16421" y2="49587"/>
                          <a14:foregroundMark x1="19253" y1="47855" x2="42922" y2="51238"/>
                          <a14:foregroundMark x1="42922" y1="51238" x2="31540" y2="51733"/>
                          <a14:foregroundMark x1="31540" y1="51733" x2="50057" y2="51980"/>
                          <a14:foregroundMark x1="50057" y1="51980" x2="22650" y2="51073"/>
                          <a14:foregroundMark x1="22650" y1="51073" x2="55719" y2="52888"/>
                          <a14:foregroundMark x1="55719" y1="52888" x2="66421" y2="52723"/>
                          <a14:foregroundMark x1="66421" y1="52723" x2="53284" y2="51238"/>
                          <a14:foregroundMark x1="53284" y1="51238" x2="58550" y2="52888"/>
                          <a14:foregroundMark x1="10985" y1="47855" x2="9796" y2="34076"/>
                          <a14:foregroundMark x1="34202" y1="5281" x2="45017" y2="3960"/>
                          <a14:foregroundMark x1="45017" y1="3960" x2="54247" y2="528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761" y="127698"/>
              <a:ext cx="924239" cy="634302"/>
            </a:xfrm>
            <a:prstGeom prst="rect">
              <a:avLst/>
            </a:prstGeom>
            <a:noFill/>
          </p:spPr>
        </p:pic>
      </p:grpSp>
      <p:sp>
        <p:nvSpPr>
          <p:cNvPr id="8" name="슬라이드 번호 개체 틀 10">
            <a:extLst>
              <a:ext uri="{FF2B5EF4-FFF2-40B4-BE49-F238E27FC236}">
                <a16:creationId xmlns:a16="http://schemas.microsoft.com/office/drawing/2014/main" id="{DBF8321D-C986-498F-B648-306612749B3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61ACA5-8697-464D-8616-4F68DF404B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8111AED-59A6-4C15-8FA2-9A68F3BAD3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208143"/>
            <a:ext cx="3892550" cy="39949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Title / Subtitle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lvl="0"/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703103E-FD05-490B-8B1E-36BB7CC96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123950"/>
            <a:ext cx="10837862" cy="50784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177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DA1CC3C-80B3-47A0-8D3E-31B1DC72EFA6}"/>
              </a:ext>
            </a:extLst>
          </p:cNvPr>
          <p:cNvCxnSpPr/>
          <p:nvPr userDrawn="1"/>
        </p:nvCxnSpPr>
        <p:spPr>
          <a:xfrm>
            <a:off x="0" y="7620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104FDFAF-77B2-4896-858C-FB3C31D07057}"/>
              </a:ext>
            </a:extLst>
          </p:cNvPr>
          <p:cNvGrpSpPr/>
          <p:nvPr userDrawn="1"/>
        </p:nvGrpSpPr>
        <p:grpSpPr>
          <a:xfrm>
            <a:off x="9718787" y="127698"/>
            <a:ext cx="2473213" cy="634302"/>
            <a:chOff x="9718787" y="127698"/>
            <a:chExt cx="2473213" cy="63430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050ED82-10A1-449E-92D1-F6DBE597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8787" y="208934"/>
              <a:ext cx="1548974" cy="400110"/>
            </a:xfrm>
            <a:prstGeom prst="rect">
              <a:avLst/>
            </a:prstGeom>
          </p:spPr>
        </p:pic>
        <p:pic>
          <p:nvPicPr>
            <p:cNvPr id="10" name="그림 9" descr="그림, 그래픽, 스케치, 텍스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D10E5045-27F3-4AF0-AD3F-69C18AA46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960" b="89934" l="9740" r="89921">
                          <a14:foregroundMark x1="26161" y1="10726" x2="36580" y2="6601"/>
                          <a14:foregroundMark x1="36580" y1="6601" x2="57644" y2="8993"/>
                          <a14:foregroundMark x1="57644" y1="8993" x2="57418" y2="8993"/>
                          <a14:foregroundMark x1="11835" y1="40759" x2="10362" y2="33663"/>
                          <a14:foregroundMark x1="32163" y1="6106" x2="42525" y2="5693"/>
                          <a14:foregroundMark x1="42525" y1="5693" x2="51982" y2="6518"/>
                          <a14:foregroundMark x1="34768" y1="5693" x2="45640" y2="4868"/>
                          <a14:foregroundMark x1="45640" y1="4868" x2="47395" y2="4868"/>
                          <a14:foregroundMark x1="70895" y1="50825" x2="25311" y2="49175"/>
                          <a14:foregroundMark x1="71178" y1="47030" x2="20159" y2="46617"/>
                          <a14:foregroundMark x1="74915" y1="51650" x2="16421" y2="49587"/>
                          <a14:foregroundMark x1="16421" y1="49587" x2="16421" y2="49587"/>
                          <a14:foregroundMark x1="19253" y1="47855" x2="42922" y2="51238"/>
                          <a14:foregroundMark x1="42922" y1="51238" x2="31540" y2="51733"/>
                          <a14:foregroundMark x1="31540" y1="51733" x2="50057" y2="51980"/>
                          <a14:foregroundMark x1="50057" y1="51980" x2="22650" y2="51073"/>
                          <a14:foregroundMark x1="22650" y1="51073" x2="55719" y2="52888"/>
                          <a14:foregroundMark x1="55719" y1="52888" x2="66421" y2="52723"/>
                          <a14:foregroundMark x1="66421" y1="52723" x2="53284" y2="51238"/>
                          <a14:foregroundMark x1="53284" y1="51238" x2="58550" y2="52888"/>
                          <a14:foregroundMark x1="10985" y1="47855" x2="9796" y2="34076"/>
                          <a14:foregroundMark x1="34202" y1="5281" x2="45017" y2="3960"/>
                          <a14:foregroundMark x1="45017" y1="3960" x2="54247" y2="528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67761" y="127698"/>
              <a:ext cx="924239" cy="634302"/>
            </a:xfrm>
            <a:prstGeom prst="rect">
              <a:avLst/>
            </a:prstGeom>
            <a:noFill/>
          </p:spPr>
        </p:pic>
      </p:grp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4340B96-2B1F-4D60-9229-96E59C52F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BE104-50D0-41A9-99DD-DD5FE7356EA1}"/>
              </a:ext>
            </a:extLst>
          </p:cNvPr>
          <p:cNvSpPr txBox="1"/>
          <p:nvPr userDrawn="1"/>
        </p:nvSpPr>
        <p:spPr>
          <a:xfrm>
            <a:off x="515938" y="208934"/>
            <a:ext cx="316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8852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A64905-9CE5-4119-8646-5B99FD743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1ACA5-8697-464D-8616-4F68DF404BD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E554137-537C-4EE1-8D18-4FBD4279B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7769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2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dino/blob/main/vision_transformer.p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010.11929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5.xml"/><Relationship Id="rId12" Type="http://schemas.openxmlformats.org/officeDocument/2006/relationships/image" Target="../media/image1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tags" Target="../tags/tag5.xml"/><Relationship Id="rId1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velog.io/@cksgh0984/%EB%85%BC%EB%AC%B8-%EB%A6%AC%EB%B7%B0-Attention-is-All-you-nee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17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4540112-BA32-472B-95E2-2D6F0A3E0B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1387606"/>
            <a:ext cx="6868160" cy="2041393"/>
          </a:xfrm>
        </p:spPr>
        <p:txBody>
          <a:bodyPr>
            <a:normAutofit/>
          </a:bodyPr>
          <a:lstStyle/>
          <a:p>
            <a:r>
              <a:rPr lang="ko-KR" altLang="en-US" dirty="0"/>
              <a:t>논문과 함께하는 </a:t>
            </a:r>
            <a:endParaRPr lang="en-US" altLang="ko-KR" dirty="0"/>
          </a:p>
          <a:p>
            <a:r>
              <a:rPr lang="ko-KR" altLang="en-US" b="1" dirty="0"/>
              <a:t>재미있는</a:t>
            </a:r>
            <a:r>
              <a:rPr lang="en-US" altLang="ko-KR" b="1" dirty="0"/>
              <a:t>(&lt;-</a:t>
            </a:r>
            <a:r>
              <a:rPr lang="ko-KR" altLang="en-US" b="1" dirty="0"/>
              <a:t>이거 중요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en-US" altLang="ko-KR" dirty="0" err="1"/>
              <a:t>ViT</a:t>
            </a:r>
            <a:r>
              <a:rPr lang="en-US" altLang="ko-KR" dirty="0"/>
              <a:t> architecture code review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104651-57A0-406B-8891-9EFC15235D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YS Park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8458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B94754-B4B2-4F2F-B325-2CE97125D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305FFA-6CD3-46B1-96A9-65B8472D7F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CB7856-0452-4267-B2F0-714AE23848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개모임에서 왜 </a:t>
            </a:r>
            <a:r>
              <a:rPr lang="en-US" altLang="ko-KR" dirty="0"/>
              <a:t>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ViT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코드리뷰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6864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92E8-1F29-C21B-2B96-2FD777C9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37D9FC-5EC5-C818-F8BF-2D2AF566C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E317C1-ADB2-F3E7-7EE8-41350EEB10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8094662" cy="399494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개모임에서 왜 </a:t>
            </a:r>
            <a:r>
              <a:rPr lang="en-US" altLang="ko-KR" dirty="0"/>
              <a:t>…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F0F0CE-B015-D3FE-6017-80E2E320A7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123950"/>
            <a:ext cx="10837862" cy="5078413"/>
          </a:xfrm>
        </p:spPr>
        <p:txBody>
          <a:bodyPr>
            <a:normAutofit lnSpcReduction="10000"/>
          </a:bodyPr>
          <a:lstStyle/>
          <a:p>
            <a:r>
              <a:rPr lang="ko-KR" altLang="en-US" sz="3000" dirty="0"/>
              <a:t>개모임에서 왜 </a:t>
            </a:r>
            <a:r>
              <a:rPr lang="en-US" altLang="ko-KR" sz="3000" dirty="0" err="1"/>
              <a:t>ViT</a:t>
            </a:r>
            <a:r>
              <a:rPr lang="ko-KR" altLang="en-US" sz="3000" dirty="0"/>
              <a:t> </a:t>
            </a:r>
            <a:r>
              <a:rPr lang="en-US" altLang="ko-KR" sz="3000" dirty="0"/>
              <a:t>code review</a:t>
            </a:r>
            <a:r>
              <a:rPr lang="ko-KR" altLang="en-US" sz="3000" dirty="0"/>
              <a:t> 발표를 </a:t>
            </a:r>
            <a:r>
              <a:rPr lang="ko-KR" altLang="en-US" sz="3000" dirty="0" err="1"/>
              <a:t>하냐면요</a:t>
            </a:r>
            <a:r>
              <a:rPr lang="ko-KR" altLang="en-US" sz="3000" dirty="0"/>
              <a:t> </a:t>
            </a:r>
            <a:r>
              <a:rPr lang="en-US" altLang="ko-KR" sz="3000" dirty="0"/>
              <a:t>…</a:t>
            </a:r>
          </a:p>
          <a:p>
            <a:endParaRPr lang="en-US" altLang="ko-KR" sz="3000" dirty="0"/>
          </a:p>
          <a:p>
            <a:r>
              <a:rPr lang="ko-KR" altLang="en-US" sz="3000" dirty="0"/>
              <a:t>이해보다는 어떻게 구현되는지 위주로</a:t>
            </a:r>
            <a:endParaRPr lang="en-US" altLang="ko-KR" sz="3000" dirty="0"/>
          </a:p>
          <a:p>
            <a:endParaRPr lang="en-US" altLang="ko-KR" sz="3000" dirty="0"/>
          </a:p>
          <a:p>
            <a:r>
              <a:rPr lang="en-US" altLang="ko-KR" sz="3000" dirty="0"/>
              <a:t>Code: </a:t>
            </a:r>
            <a:r>
              <a:rPr lang="en-US" altLang="ko-KR" sz="3000" dirty="0">
                <a:hlinkClick r:id="rId3"/>
              </a:rPr>
              <a:t>https://github.com/facebookresearch/dino/blob/main/vision_transformer.py</a:t>
            </a:r>
            <a:endParaRPr lang="en-US" altLang="ko-KR" sz="3000" dirty="0"/>
          </a:p>
          <a:p>
            <a:endParaRPr lang="en-US" altLang="ko-KR" sz="3000" dirty="0"/>
          </a:p>
          <a:p>
            <a:r>
              <a:rPr lang="en-US" altLang="ko-KR" sz="3000" dirty="0"/>
              <a:t>Paper:</a:t>
            </a:r>
          </a:p>
          <a:p>
            <a:r>
              <a:rPr lang="en-US" altLang="ko-KR" sz="3000" dirty="0">
                <a:hlinkClick r:id="rId4"/>
              </a:rPr>
              <a:t>https://arxiv.org/abs/2010.11929</a:t>
            </a:r>
            <a:endParaRPr lang="en-US" altLang="ko-KR" sz="3000" dirty="0"/>
          </a:p>
        </p:txBody>
      </p:sp>
    </p:spTree>
    <p:extLst>
      <p:ext uri="{BB962C8B-B14F-4D97-AF65-F5344CB8AC3E}">
        <p14:creationId xmlns:p14="http://schemas.microsoft.com/office/powerpoint/2010/main" val="1348728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C52F-66DD-1788-E96D-67F02D933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2F121B6-196B-AE48-8E65-6C5E47A32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B26AA9-597E-88C0-6793-E4FCF3F9E1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8094662" cy="399494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 dirty="0" err="1"/>
              <a:t>ViT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r>
              <a:rPr kumimoji="1" lang="en-US" altLang="ko-KR" dirty="0"/>
              <a:t> / </a:t>
            </a:r>
            <a:r>
              <a:rPr kumimoji="1" lang="ko-KR" altLang="en-US" dirty="0"/>
              <a:t>왜 </a:t>
            </a:r>
            <a:r>
              <a:rPr kumimoji="1" lang="ko-KR" altLang="en-US" dirty="0" err="1"/>
              <a:t>만들어졌나면요</a:t>
            </a:r>
            <a:r>
              <a:rPr kumimoji="1" lang="ko-KR" altLang="en-US" dirty="0"/>
              <a:t> </a:t>
            </a:r>
            <a:r>
              <a:rPr kumimoji="1" lang="en-US" altLang="ko-KR" dirty="0"/>
              <a:t>…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5F0CE3-206B-271C-AF21-44AE968968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123950"/>
            <a:ext cx="10837862" cy="5078413"/>
          </a:xfrm>
        </p:spPr>
        <p:txBody>
          <a:bodyPr>
            <a:normAutofit/>
          </a:bodyPr>
          <a:lstStyle/>
          <a:p>
            <a:r>
              <a:rPr lang="ko-KR" altLang="en-US" sz="3000" dirty="0"/>
              <a:t>사람들</a:t>
            </a:r>
            <a:r>
              <a:rPr lang="en-US" altLang="ko-KR" sz="3000" dirty="0"/>
              <a:t>:</a:t>
            </a:r>
            <a:r>
              <a:rPr lang="ko-KR" altLang="en-US" sz="3000" dirty="0"/>
              <a:t> </a:t>
            </a:r>
            <a:endParaRPr lang="en-US" altLang="ko-KR" sz="3000" dirty="0"/>
          </a:p>
          <a:p>
            <a:r>
              <a:rPr lang="en-US" altLang="ko-KR" sz="3000" dirty="0"/>
              <a:t>NLP </a:t>
            </a:r>
            <a:r>
              <a:rPr lang="ko-KR" altLang="en-US" sz="3000" dirty="0"/>
              <a:t>분야를 잡아먹은 </a:t>
            </a:r>
            <a:endParaRPr lang="en-US" altLang="ko-KR" sz="3000" dirty="0"/>
          </a:p>
          <a:p>
            <a:r>
              <a:rPr lang="en-US" altLang="ko-KR" sz="3000" dirty="0"/>
              <a:t>Transformer</a:t>
            </a:r>
            <a:r>
              <a:rPr lang="ko-KR" altLang="en-US" sz="3000" dirty="0" err="1"/>
              <a:t>를</a:t>
            </a:r>
            <a:r>
              <a:rPr lang="ko-KR" altLang="en-US" sz="3000" dirty="0"/>
              <a:t> 메커니즘 </a:t>
            </a:r>
            <a:r>
              <a:rPr lang="en-US" altLang="ko-KR" sz="3000" dirty="0"/>
              <a:t>…</a:t>
            </a:r>
          </a:p>
          <a:p>
            <a:r>
              <a:rPr lang="en-US" altLang="ko-KR" sz="3000" dirty="0"/>
              <a:t>Vision </a:t>
            </a:r>
            <a:r>
              <a:rPr lang="ko-KR" altLang="en-US" sz="3000" dirty="0"/>
              <a:t>분야에 적용 할 수 있을까</a:t>
            </a:r>
            <a:r>
              <a:rPr lang="en-US" altLang="ko-KR" sz="3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35118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9F90F-5F05-27D8-17AE-74CE80753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A13713-C7E2-D6FE-3447-C5B768E6BD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4A6617-7C10-480D-32EE-481A867CD8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8094662" cy="399494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 dirty="0" err="1"/>
              <a:t>ViT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r>
              <a:rPr kumimoji="1" lang="en-US" altLang="ko-KR" dirty="0"/>
              <a:t> / </a:t>
            </a:r>
            <a:r>
              <a:rPr kumimoji="1" lang="ko-KR" altLang="en-US" dirty="0"/>
              <a:t>왜 </a:t>
            </a:r>
            <a:r>
              <a:rPr kumimoji="1" lang="ko-KR" altLang="en-US" dirty="0" err="1"/>
              <a:t>만들어졌나면요</a:t>
            </a:r>
            <a:r>
              <a:rPr kumimoji="1" lang="ko-KR" altLang="en-US" dirty="0"/>
              <a:t> </a:t>
            </a:r>
            <a:r>
              <a:rPr kumimoji="1" lang="en-US" altLang="ko-KR" dirty="0"/>
              <a:t>…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D39A67-04A9-D22B-2B7D-8C1EECFD7B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1123950"/>
            <a:ext cx="10837862" cy="5078413"/>
          </a:xfrm>
        </p:spPr>
        <p:txBody>
          <a:bodyPr>
            <a:normAutofit/>
          </a:bodyPr>
          <a:lstStyle/>
          <a:p>
            <a:r>
              <a:rPr lang="ko-KR" altLang="en-US" sz="3000" dirty="0"/>
              <a:t>사람들</a:t>
            </a:r>
            <a:r>
              <a:rPr lang="en-US" altLang="ko-KR" sz="3000" dirty="0"/>
              <a:t>:</a:t>
            </a:r>
            <a:r>
              <a:rPr lang="ko-KR" altLang="en-US" sz="3000" dirty="0"/>
              <a:t> </a:t>
            </a:r>
            <a:endParaRPr lang="en-US" altLang="ko-KR" sz="3000" dirty="0"/>
          </a:p>
          <a:p>
            <a:r>
              <a:rPr lang="en-US" altLang="ko-KR" sz="3000" dirty="0"/>
              <a:t>NLP </a:t>
            </a:r>
            <a:r>
              <a:rPr lang="ko-KR" altLang="en-US" sz="3000" dirty="0"/>
              <a:t>분야를 잡아먹은 </a:t>
            </a:r>
            <a:endParaRPr lang="en-US" altLang="ko-KR" sz="3000" dirty="0"/>
          </a:p>
          <a:p>
            <a:r>
              <a:rPr lang="en-US" altLang="ko-KR" sz="3000" dirty="0"/>
              <a:t>Transformer</a:t>
            </a:r>
            <a:r>
              <a:rPr lang="ko-KR" altLang="en-US" sz="3000" dirty="0" err="1"/>
              <a:t>를</a:t>
            </a:r>
            <a:r>
              <a:rPr lang="ko-KR" altLang="en-US" sz="3000" dirty="0"/>
              <a:t> 메커니즘 </a:t>
            </a:r>
            <a:r>
              <a:rPr lang="en-US" altLang="ko-KR" sz="3000" dirty="0"/>
              <a:t>…</a:t>
            </a:r>
          </a:p>
          <a:p>
            <a:r>
              <a:rPr lang="en-US" altLang="ko-KR" sz="3000" dirty="0"/>
              <a:t>Vision </a:t>
            </a:r>
            <a:r>
              <a:rPr lang="ko-KR" altLang="en-US" sz="3000" dirty="0"/>
              <a:t>분야에 적용 할 수 있을까</a:t>
            </a:r>
            <a:r>
              <a:rPr lang="en-US" altLang="ko-KR" sz="3000" dirty="0"/>
              <a:t>?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101098B-2EE3-4AFE-A23B-CEE33939D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2914790"/>
            <a:ext cx="3228975" cy="328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9608068-FAD8-17B5-AA42-7C32D228C538}"/>
              </a:ext>
            </a:extLst>
          </p:cNvPr>
          <p:cNvSpPr/>
          <p:nvPr/>
        </p:nvSpPr>
        <p:spPr>
          <a:xfrm>
            <a:off x="8278812" y="5517357"/>
            <a:ext cx="2921000" cy="50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R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Alexey </a:t>
            </a:r>
            <a:r>
              <a:rPr lang="en" altLang="ko-KR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Doso</a:t>
            </a:r>
            <a:r>
              <a:rPr lang="en-US" altLang="ko-KR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en" altLang="ko-KR" sz="4000" b="1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vit</a:t>
            </a:r>
            <a:r>
              <a:rPr lang="en-US" altLang="ko-KR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en" altLang="ko-KR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skiy</a:t>
            </a:r>
            <a:endParaRPr lang="en" altLang="ko-KR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타원형 설명선[O] 6">
            <a:extLst>
              <a:ext uri="{FF2B5EF4-FFF2-40B4-BE49-F238E27FC236}">
                <a16:creationId xmlns:a16="http://schemas.microsoft.com/office/drawing/2014/main" id="{D2120AE3-21F4-4F1B-D270-A3C68CD142C2}"/>
              </a:ext>
            </a:extLst>
          </p:cNvPr>
          <p:cNvSpPr/>
          <p:nvPr/>
        </p:nvSpPr>
        <p:spPr>
          <a:xfrm>
            <a:off x="6056312" y="3047276"/>
            <a:ext cx="2222500" cy="1511300"/>
          </a:xfrm>
          <a:prstGeom prst="wedgeEllipseCallout">
            <a:avLst>
              <a:gd name="adj1" fmla="val 98253"/>
              <a:gd name="adj2" fmla="val 4989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ㅇㅇ</a:t>
            </a:r>
            <a:r>
              <a:rPr kumimoji="1" lang="ko-KR" altLang="en-US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kumimoji="1" lang="ko-KR" altLang="en-US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ㅋㅋ</a:t>
            </a:r>
            <a:endParaRPr kumimoji="1" lang="en-US" altLang="ko-KR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0207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94C23CD-9D68-8FC4-1592-59859238A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715EC0-B0A1-95A9-C941-47B4A4B83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 err="1"/>
              <a:t>ViT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r>
              <a:rPr kumimoji="1" lang="en-US" altLang="ko-KR" dirty="0"/>
              <a:t> / 2021 ICLR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FB6983-89D8-3F42-B0AF-AB06F1107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55921"/>
            <a:ext cx="7772400" cy="3546157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964D268-50A0-BB66-2846-DAEC140C3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2914790"/>
            <a:ext cx="3228975" cy="328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타원형 설명선[O] 7">
            <a:extLst>
              <a:ext uri="{FF2B5EF4-FFF2-40B4-BE49-F238E27FC236}">
                <a16:creationId xmlns:a16="http://schemas.microsoft.com/office/drawing/2014/main" id="{85E41207-8E10-592E-6787-ECC429F7D498}"/>
              </a:ext>
            </a:extLst>
          </p:cNvPr>
          <p:cNvSpPr/>
          <p:nvPr/>
        </p:nvSpPr>
        <p:spPr>
          <a:xfrm>
            <a:off x="4835524" y="5027612"/>
            <a:ext cx="3443288" cy="1511300"/>
          </a:xfrm>
          <a:prstGeom prst="wedgeEllipseCallout">
            <a:avLst>
              <a:gd name="adj1" fmla="val 80039"/>
              <a:gd name="adj2" fmla="val -7699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피인용수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en-US" altLang="ko-KR" dirty="0"/>
              <a:t>78,052</a:t>
            </a:r>
          </a:p>
          <a:p>
            <a:pPr algn="ctr"/>
            <a:r>
              <a:rPr lang="ko-KR" altLang="en-US" dirty="0"/>
              <a:t>개꿀 </a:t>
            </a:r>
            <a:r>
              <a:rPr lang="ko-KR" altLang="en-US" dirty="0" err="1"/>
              <a:t>ㅋㅋ</a:t>
            </a:r>
            <a:endParaRPr lang="en-US" altLang="ko-KR" dirty="0"/>
          </a:p>
          <a:p>
            <a:pPr algn="ctr"/>
            <a:r>
              <a:rPr kumimoji="1" lang="en-US" altLang="ko-KR" sz="9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kumimoji="1" lang="ko-KR" altLang="en-US" sz="9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*실제로 이렇게 말하지는 않았음</a:t>
            </a:r>
            <a:r>
              <a:rPr kumimoji="1" lang="en-US" altLang="ko-KR" sz="9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90A3BB-439E-B1B9-9EE2-B9599C4ACD7A}"/>
              </a:ext>
            </a:extLst>
          </p:cNvPr>
          <p:cNvSpPr/>
          <p:nvPr/>
        </p:nvSpPr>
        <p:spPr>
          <a:xfrm>
            <a:off x="8278812" y="5517357"/>
            <a:ext cx="2921000" cy="50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R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Alexey </a:t>
            </a:r>
            <a:r>
              <a:rPr lang="en" altLang="ko-KR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Doso</a:t>
            </a:r>
            <a:r>
              <a:rPr lang="en-US" altLang="ko-KR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en" altLang="ko-KR" sz="4000" b="1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vit</a:t>
            </a:r>
            <a:r>
              <a:rPr lang="en-US" altLang="ko-KR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en" altLang="ko-KR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skiy</a:t>
            </a:r>
            <a:endParaRPr lang="en" altLang="ko-KR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370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41A0-AC4F-F1C1-4A04-D6C946C68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8911673-964A-F1DE-DDB1-A379A6333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AC117-FE45-F283-EEC5-0867B1D821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6329362" cy="399494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 dirty="0" err="1"/>
              <a:t>ViT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r>
              <a:rPr kumimoji="1" lang="en-US" altLang="ko-KR" dirty="0"/>
              <a:t> / </a:t>
            </a:r>
            <a:r>
              <a:rPr kumimoji="1" lang="ko-KR" altLang="en-US" dirty="0"/>
              <a:t>대충 이렇게 </a:t>
            </a:r>
            <a:r>
              <a:rPr kumimoji="1" lang="ko-KR" altLang="en-US" dirty="0" err="1"/>
              <a:t>돌아감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29310B2-7022-40A4-D038-D7507EF9C8BC}"/>
              </a:ext>
            </a:extLst>
          </p:cNvPr>
          <p:cNvSpPr/>
          <p:nvPr/>
        </p:nvSpPr>
        <p:spPr>
          <a:xfrm>
            <a:off x="4152973" y="2219661"/>
            <a:ext cx="43839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546A3C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the number of channels</a:t>
            </a:r>
          </a:p>
          <a:p>
            <a:pPr marL="285750" indent="-285750">
              <a:buClr>
                <a:srgbClr val="546A3C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the resolution of patch</a:t>
            </a:r>
          </a:p>
          <a:p>
            <a:pPr marL="285750" indent="-285750">
              <a:buClr>
                <a:srgbClr val="546A3C"/>
              </a:buClr>
              <a:buFont typeface="Wingdings" panose="05000000000000000000" pitchFamily="2" charset="2"/>
              <a:buChar char="§"/>
            </a:pPr>
            <a:r>
              <a:rPr lang="en-US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patches (</a:t>
            </a:r>
            <a:r>
              <a:rPr lang="en-US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HW/P</a:t>
            </a:r>
            <a:r>
              <a:rPr lang="en-US" altLang="ko-KR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Clr>
                <a:srgbClr val="546A3C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constant latent vector size</a:t>
            </a:r>
          </a:p>
          <a:p>
            <a:pPr marL="285750" indent="-285750">
              <a:buClr>
                <a:srgbClr val="546A3C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image representation</a:t>
            </a:r>
          </a:p>
        </p:txBody>
      </p:sp>
      <p:pic>
        <p:nvPicPr>
          <p:cNvPr id="10" name="그림 9" descr="\documentclass{article}&#10;\usepackage{amsmath, amssymb}&#10;\pagestyle{empty}&#10;\begin{document}&#10;&#10;$&#10;\mathbf{x} \in \mathbb{R}^{H \times W \times C}&#10;$&#10;&#10;&#10;\end{document}" title="IguanaTex Bitmap Display">
            <a:extLst>
              <a:ext uri="{FF2B5EF4-FFF2-40B4-BE49-F238E27FC236}">
                <a16:creationId xmlns:a16="http://schemas.microsoft.com/office/drawing/2014/main" id="{3798EDC2-B27C-E6FB-62AD-C48A8856FB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27" y="2444624"/>
            <a:ext cx="1504000" cy="227048"/>
          </a:xfrm>
          <a:prstGeom prst="rect">
            <a:avLst/>
          </a:prstGeom>
        </p:spPr>
      </p:pic>
      <p:pic>
        <p:nvPicPr>
          <p:cNvPr id="11" name="그림 10" descr="\documentclass{article}&#10;\usepackage{amsmath, amssymb}&#10;\pagestyle{empty}&#10;\begin{document}&#10;&#10;$&#10;\mathbf{x}_p \in \mathbb{R}^{N \times (P^2 \cdot C)}&#10;$&#10;&#10;&#10;\end{document}" title="IguanaTex Bitmap Display">
            <a:extLst>
              <a:ext uri="{FF2B5EF4-FFF2-40B4-BE49-F238E27FC236}">
                <a16:creationId xmlns:a16="http://schemas.microsoft.com/office/drawing/2014/main" id="{B09BD6C2-9F4F-2A07-E3C6-9B6E35256FC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27" y="2848230"/>
            <a:ext cx="1706667" cy="3260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5E1EC73-8A67-0AED-9953-3333C9D866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227" y="1119235"/>
            <a:ext cx="7116168" cy="1171739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AF3B7C4C-F3D9-4090-79CF-C0DB1CEDFD16}"/>
              </a:ext>
            </a:extLst>
          </p:cNvPr>
          <p:cNvGrpSpPr/>
          <p:nvPr/>
        </p:nvGrpSpPr>
        <p:grpSpPr>
          <a:xfrm>
            <a:off x="292100" y="3994261"/>
            <a:ext cx="5260541" cy="2707558"/>
            <a:chOff x="292100" y="3920323"/>
            <a:chExt cx="5260541" cy="270755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DB7AE3A-8CD7-BC50-86CD-9A37BEE22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92100" y="3920323"/>
              <a:ext cx="5154931" cy="2707558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1BB380A7-861E-87C6-F7C3-03037EC6F1B3}"/>
                </a:ext>
              </a:extLst>
            </p:cNvPr>
            <p:cNvGrpSpPr/>
            <p:nvPr/>
          </p:nvGrpSpPr>
          <p:grpSpPr>
            <a:xfrm>
              <a:off x="4303800" y="4321377"/>
              <a:ext cx="1248841" cy="2289899"/>
              <a:chOff x="7313013" y="4031154"/>
              <a:chExt cx="1533753" cy="2812319"/>
            </a:xfrm>
          </p:grpSpPr>
          <p:pic>
            <p:nvPicPr>
              <p:cNvPr id="16" name="그림 15" descr="\documentclass{article}&#10;\usepackage{amsmath, amssymb}&#10;\pagestyle{empty}&#10;\begin{document}&#10;$&#10;\mathbf{z}_0&#10;$&#10;&#10;&#10;&#10;\end{document}" title="IguanaTex Bitmap Display">
                <a:extLst>
                  <a:ext uri="{FF2B5EF4-FFF2-40B4-BE49-F238E27FC236}">
                    <a16:creationId xmlns:a16="http://schemas.microsoft.com/office/drawing/2014/main" id="{317152F2-DA2C-32C6-1194-1C73899A6CF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68414" y="6524326"/>
                <a:ext cx="213333" cy="146760"/>
              </a:xfrm>
              <a:prstGeom prst="rect">
                <a:avLst/>
              </a:prstGeom>
            </p:spPr>
          </p:pic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544CBC4D-1B31-43CF-C727-0055949295E0}"/>
                  </a:ext>
                </a:extLst>
              </p:cNvPr>
              <p:cNvSpPr/>
              <p:nvPr/>
            </p:nvSpPr>
            <p:spPr>
              <a:xfrm>
                <a:off x="7313013" y="6404823"/>
                <a:ext cx="1080000" cy="438650"/>
              </a:xfrm>
              <a:prstGeom prst="rect">
                <a:avLst/>
              </a:prstGeom>
              <a:noFill/>
              <a:ln w="44450">
                <a:solidFill>
                  <a:schemeClr val="accent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720000" algn="l">
                  <a:spcBef>
                    <a:spcPts val="0"/>
                  </a:spcBef>
                </a:pPr>
                <a:endParaRPr lang="ko-KR" alt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4C22103E-2F2E-490C-3FD3-B4AADCAD3B56}"/>
                  </a:ext>
                </a:extLst>
              </p:cNvPr>
              <p:cNvSpPr/>
              <p:nvPr/>
            </p:nvSpPr>
            <p:spPr>
              <a:xfrm>
                <a:off x="7325714" y="5107904"/>
                <a:ext cx="1080000" cy="1188000"/>
              </a:xfrm>
              <a:prstGeom prst="rect">
                <a:avLst/>
              </a:prstGeom>
              <a:noFill/>
              <a:ln w="44450">
                <a:solidFill>
                  <a:schemeClr val="accent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720000" algn="l">
                  <a:spcBef>
                    <a:spcPts val="0"/>
                  </a:spcBef>
                </a:pPr>
                <a:endParaRPr lang="ko-KR" alt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6EE9FAC1-D2F0-6AD3-2AFF-546E248C9013}"/>
                  </a:ext>
                </a:extLst>
              </p:cNvPr>
              <p:cNvSpPr/>
              <p:nvPr/>
            </p:nvSpPr>
            <p:spPr>
              <a:xfrm>
                <a:off x="7325712" y="4031154"/>
                <a:ext cx="1080000" cy="1008000"/>
              </a:xfrm>
              <a:prstGeom prst="rect">
                <a:avLst/>
              </a:prstGeom>
              <a:noFill/>
              <a:ln w="44450">
                <a:solidFill>
                  <a:schemeClr val="accent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marL="720000" algn="l">
                  <a:spcBef>
                    <a:spcPts val="0"/>
                  </a:spcBef>
                </a:pPr>
                <a:endParaRPr lang="ko-KR" alt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  <p:pic>
            <p:nvPicPr>
              <p:cNvPr id="20" name="그림 19" descr="\documentclass{article}&#10;\usepackage{amsmath, amssymb}&#10;\pagestyle{empty}&#10;\begin{document}&#10;$&#10;\mathbf{z'} _ \mathit{l}&#10;$&#10;&#10;&#10;&#10;\end{document}" title="IguanaTex Bitmap Display">
                <a:extLst>
                  <a:ext uri="{FF2B5EF4-FFF2-40B4-BE49-F238E27FC236}">
                    <a16:creationId xmlns:a16="http://schemas.microsoft.com/office/drawing/2014/main" id="{DE0F5A99-BD56-0D46-F0B1-E57B1CC773A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93814" y="5611247"/>
                <a:ext cx="252952" cy="219412"/>
              </a:xfrm>
              <a:prstGeom prst="rect">
                <a:avLst/>
              </a:prstGeom>
            </p:spPr>
          </p:pic>
          <p:pic>
            <p:nvPicPr>
              <p:cNvPr id="21" name="그림 20" descr="\documentclass{article}&#10;\usepackage{amsmath, amssymb}&#10;\pagestyle{empty}&#10;\begin{document}&#10;$&#10;\mathbf{z} _ \mathit{l}&#10;$&#10;&#10;&#10;&#10;\end{document}" title="IguanaTex Bitmap Display">
                <a:extLst>
                  <a:ext uri="{FF2B5EF4-FFF2-40B4-BE49-F238E27FC236}">
                    <a16:creationId xmlns:a16="http://schemas.microsoft.com/office/drawing/2014/main" id="{D45AE62D-6806-0B71-C197-9D9CB673EE46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93814" y="4487410"/>
                <a:ext cx="181333" cy="145306"/>
              </a:xfrm>
              <a:prstGeom prst="rect">
                <a:avLst/>
              </a:prstGeom>
            </p:spPr>
          </p:pic>
        </p:grp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id="{84FF7EAC-962C-8080-CB41-431B92D02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2914790"/>
            <a:ext cx="3228975" cy="328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타원형 설명선[O] 22">
            <a:extLst>
              <a:ext uri="{FF2B5EF4-FFF2-40B4-BE49-F238E27FC236}">
                <a16:creationId xmlns:a16="http://schemas.microsoft.com/office/drawing/2014/main" id="{A0AFEB00-25CC-92AC-41CA-7755BB8C0548}"/>
              </a:ext>
            </a:extLst>
          </p:cNvPr>
          <p:cNvSpPr/>
          <p:nvPr/>
        </p:nvSpPr>
        <p:spPr>
          <a:xfrm>
            <a:off x="5705799" y="5027612"/>
            <a:ext cx="2573013" cy="1174751"/>
          </a:xfrm>
          <a:prstGeom prst="wedgeEllipseCallout">
            <a:avLst>
              <a:gd name="adj1" fmla="val 80039"/>
              <a:gd name="adj2" fmla="val -7699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어렵제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ㅋㅋ</a:t>
            </a:r>
            <a:endParaRPr lang="en-US" altLang="ko-KR" dirty="0"/>
          </a:p>
          <a:p>
            <a:pPr algn="ctr"/>
            <a:r>
              <a:rPr kumimoji="1" lang="en-US" altLang="ko-KR" sz="9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kumimoji="1" lang="ko-KR" altLang="en-US" sz="9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*실제로는 표준어 구사 예상</a:t>
            </a:r>
            <a:r>
              <a:rPr kumimoji="1" lang="en-US" altLang="ko-KR" sz="9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C75AE9-3C09-F6B8-9100-56551C1459F8}"/>
              </a:ext>
            </a:extLst>
          </p:cNvPr>
          <p:cNvSpPr/>
          <p:nvPr/>
        </p:nvSpPr>
        <p:spPr>
          <a:xfrm>
            <a:off x="8278812" y="5517357"/>
            <a:ext cx="2921000" cy="50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R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Alexey </a:t>
            </a:r>
            <a:r>
              <a:rPr lang="en" altLang="ko-KR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Doso</a:t>
            </a:r>
            <a:r>
              <a:rPr lang="en-US" altLang="ko-KR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en" altLang="ko-KR" sz="4000" b="1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vit</a:t>
            </a:r>
            <a:r>
              <a:rPr lang="en-US" altLang="ko-KR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</a:t>
            </a:r>
            <a:r>
              <a:rPr lang="en" altLang="ko-KR" dirty="0" err="1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skiy</a:t>
            </a:r>
            <a:endParaRPr lang="en" altLang="ko-KR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5871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011ED-3AAE-4DB7-2070-7A363228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431911F-2FA0-3951-8DFF-4137042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F45745-AC66-CC70-5F44-F621B75E7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6329362" cy="399494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 dirty="0" err="1"/>
              <a:t>ViT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r>
              <a:rPr kumimoji="1" lang="en-US" altLang="ko-KR" dirty="0"/>
              <a:t> / </a:t>
            </a:r>
            <a:r>
              <a:rPr kumimoji="1" lang="ko-KR" altLang="en-US" dirty="0"/>
              <a:t>대충 이렇게 </a:t>
            </a:r>
            <a:r>
              <a:rPr kumimoji="1" lang="ko-KR" altLang="en-US" dirty="0" err="1"/>
              <a:t>돌아감</a:t>
            </a:r>
            <a:endParaRPr lang="en-US" altLang="ko-KR" dirty="0"/>
          </a:p>
        </p:txBody>
      </p:sp>
      <p:pic>
        <p:nvPicPr>
          <p:cNvPr id="4" name="Picture 4" descr="https://blog.kakaocdn.net/dna/JQVJX/btrhdd4dXI3/AAAAAAAAAAAAAAAAAAAAAJy4UgytK4OZ8sK5Zlo0ba0tqkJmqo6ATQe3z2dvtFkr/img.gif?credential=yqXZFxpELC7KVnFOS48ylbz2pIh7yKj8&amp;expires=1759244399&amp;allow_ip=&amp;allow_referer=&amp;signature=5RlJDdOs2FpDua12Dojqbw%2FvFAE%3D">
            <a:extLst>
              <a:ext uri="{FF2B5EF4-FFF2-40B4-BE49-F238E27FC236}">
                <a16:creationId xmlns:a16="http://schemas.microsoft.com/office/drawing/2014/main" id="{0C4B748B-C075-6364-AEA2-E67BB4FEF36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177" y="1054411"/>
            <a:ext cx="7421645" cy="51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5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9D2B8C-0115-870C-D21A-CD72B512F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1BB373-18F3-D4E2-A775-61557DC571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8094662" cy="399494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코드 리뷰</a:t>
            </a:r>
            <a:endParaRPr kumimoji="1"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276A13-FBA5-72A0-3D91-A59ABACC1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" y="788625"/>
            <a:ext cx="7200000" cy="32456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E6D2E20-EAF2-29FA-3F8B-5EDB11E1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" y="4034250"/>
            <a:ext cx="7200000" cy="282375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BCC3228-4D64-76B6-F2FC-0B2CF2A6F5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277" r="7408" b="27199"/>
          <a:stretch>
            <a:fillRect/>
          </a:stretch>
        </p:blipFill>
        <p:spPr>
          <a:xfrm>
            <a:off x="8810969" y="879478"/>
            <a:ext cx="2342462" cy="4635912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BC0BEB4-3984-A505-8896-1A296E00F764}"/>
              </a:ext>
            </a:extLst>
          </p:cNvPr>
          <p:cNvCxnSpPr>
            <a:cxnSpLocks/>
          </p:cNvCxnSpPr>
          <p:nvPr/>
        </p:nvCxnSpPr>
        <p:spPr>
          <a:xfrm flipV="1">
            <a:off x="1591056" y="2125014"/>
            <a:ext cx="7746127" cy="254757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A36FE-A555-5B7A-7CE9-0ABFC53D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5CDDD79-8EC7-9F4A-F502-3A99890ECB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77" r="7408" b="27199"/>
          <a:stretch>
            <a:fillRect/>
          </a:stretch>
        </p:blipFill>
        <p:spPr>
          <a:xfrm>
            <a:off x="8810969" y="879478"/>
            <a:ext cx="2342462" cy="463591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E59F40-A96B-CB1A-A972-C0850445F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9FD7D1-245C-FA05-C85C-0273580B77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8094662" cy="399494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코드 리뷰</a:t>
            </a:r>
            <a:endParaRPr kumimoji="1" lang="en-US" altLang="ko-KR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6E7916E3-9526-226F-3C18-E6222AFCDE7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61ACA5-8697-464D-8616-4F68DF404BD9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AFCD79B-E890-C6C9-B580-338CB5594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9326"/>
            <a:ext cx="7200000" cy="36618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F62546-4569-1900-1BC6-FDDD320E54FF}"/>
              </a:ext>
            </a:extLst>
          </p:cNvPr>
          <p:cNvSpPr txBox="1"/>
          <p:nvPr/>
        </p:nvSpPr>
        <p:spPr>
          <a:xfrm>
            <a:off x="515938" y="5055192"/>
            <a:ext cx="61000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참고자료</a:t>
            </a:r>
            <a:r>
              <a:rPr lang="en-US" altLang="ko-KR" dirty="0"/>
              <a:t>!!</a:t>
            </a:r>
          </a:p>
          <a:p>
            <a:r>
              <a:rPr lang="ko-KR" altLang="en-US" dirty="0">
                <a:hlinkClick r:id="rId4"/>
              </a:rPr>
              <a:t>https://velog.io/@cksgh0984/%EB%85%BC%EB%AC%B8-%EB%A6%AC%EB%B7%B0-Attention-is-All-you-need</a:t>
            </a:r>
            <a:endParaRPr lang="en-US" altLang="ko-KR" dirty="0"/>
          </a:p>
        </p:txBody>
      </p:sp>
      <p:pic>
        <p:nvPicPr>
          <p:cNvPr id="1026" name="Picture 2" descr="enter image description here">
            <a:extLst>
              <a:ext uri="{FF2B5EF4-FFF2-40B4-BE49-F238E27FC236}">
                <a16:creationId xmlns:a16="http://schemas.microsoft.com/office/drawing/2014/main" id="{733DA7AE-9B72-8AF6-67A1-A07425B0C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555" y="2045499"/>
            <a:ext cx="3051414" cy="138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463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2910-F572-60B9-CEFF-9423C8C9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6082F2-2C46-AD1D-8F69-C4FE3DF8D0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8094662" cy="399494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코드 리뷰</a:t>
            </a:r>
            <a:endParaRPr kumimoji="1" lang="en-US" altLang="ko-KR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BF8F46D-35B7-0523-A9F2-24C71D037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" y="790056"/>
            <a:ext cx="7200000" cy="30375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78F41FB-7CBC-2CDF-316C-D0A05B169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" y="3839285"/>
            <a:ext cx="7200000" cy="27224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896F4B-6FD2-B1C0-5FD2-63A5A9CADA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1277" r="7408" b="27199"/>
          <a:stretch>
            <a:fillRect/>
          </a:stretch>
        </p:blipFill>
        <p:spPr>
          <a:xfrm>
            <a:off x="8810969" y="879478"/>
            <a:ext cx="2342462" cy="463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846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C6A3-F144-51FB-3301-18654FC95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2C710EB-79B9-B246-9B86-87AF35CD4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45" y="4031807"/>
            <a:ext cx="4858555" cy="2815199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9B5906-CE44-AA0B-19DB-0A559424F4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61BB27-B4C2-1EDE-D706-5D9BCA5C5A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8094662" cy="399494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코드 리뷰</a:t>
            </a:r>
            <a:endParaRPr kumimoji="1"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4166CE-3F43-71D7-BD84-340763E3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8022"/>
            <a:ext cx="7333445" cy="588967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3229180-DD86-BD0D-4909-735CAF7F2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45" y="968328"/>
            <a:ext cx="4858555" cy="332518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BE2AFC6-A9C5-7F3B-F12F-DAB2CDCD7F94}"/>
              </a:ext>
            </a:extLst>
          </p:cNvPr>
          <p:cNvSpPr/>
          <p:nvPr/>
        </p:nvSpPr>
        <p:spPr>
          <a:xfrm>
            <a:off x="8121650" y="1841500"/>
            <a:ext cx="3028950" cy="117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48D286-936A-1ABA-25BF-6725C4484DD5}"/>
              </a:ext>
            </a:extLst>
          </p:cNvPr>
          <p:cNvSpPr/>
          <p:nvPr/>
        </p:nvSpPr>
        <p:spPr>
          <a:xfrm>
            <a:off x="8121650" y="2697390"/>
            <a:ext cx="3028950" cy="117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646D80-F5BF-D2EB-D9FB-2B93CECE48E1}"/>
              </a:ext>
            </a:extLst>
          </p:cNvPr>
          <p:cNvSpPr/>
          <p:nvPr/>
        </p:nvSpPr>
        <p:spPr>
          <a:xfrm>
            <a:off x="8121650" y="3553280"/>
            <a:ext cx="3028950" cy="117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4F48A294-36FF-5B72-1E8A-807B405543CA}"/>
              </a:ext>
            </a:extLst>
          </p:cNvPr>
          <p:cNvCxnSpPr/>
          <p:nvPr/>
        </p:nvCxnSpPr>
        <p:spPr>
          <a:xfrm rot="16200000" flipH="1">
            <a:off x="10093733" y="4366033"/>
            <a:ext cx="1605734" cy="215900"/>
          </a:xfrm>
          <a:prstGeom prst="bentConnector3">
            <a:avLst>
              <a:gd name="adj1" fmla="val 100223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24900C5C-FD14-D665-5EC4-F046DAFF2BC1}"/>
              </a:ext>
            </a:extLst>
          </p:cNvPr>
          <p:cNvCxnSpPr>
            <a:cxnSpLocks/>
          </p:cNvCxnSpPr>
          <p:nvPr/>
        </p:nvCxnSpPr>
        <p:spPr>
          <a:xfrm>
            <a:off x="9982200" y="3671116"/>
            <a:ext cx="914400" cy="652103"/>
          </a:xfrm>
          <a:prstGeom prst="bentConnector3">
            <a:avLst>
              <a:gd name="adj1" fmla="val 30556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9210F5AA-9D11-AC4D-A0A7-412EACAA31D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68660" y="4646406"/>
            <a:ext cx="2033131" cy="82550"/>
          </a:xfrm>
          <a:prstGeom prst="bentConnector3">
            <a:avLst>
              <a:gd name="adj1" fmla="val 100597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5CD0D63-D65E-FC7F-493D-953F4762C545}"/>
              </a:ext>
            </a:extLst>
          </p:cNvPr>
          <p:cNvCxnSpPr>
            <a:cxnSpLocks/>
          </p:cNvCxnSpPr>
          <p:nvPr/>
        </p:nvCxnSpPr>
        <p:spPr>
          <a:xfrm>
            <a:off x="3666722" y="4113203"/>
            <a:ext cx="4943878" cy="116364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2D498DD-F2F1-77AA-E530-47953DE0AC94}"/>
              </a:ext>
            </a:extLst>
          </p:cNvPr>
          <p:cNvCxnSpPr>
            <a:cxnSpLocks/>
          </p:cNvCxnSpPr>
          <p:nvPr/>
        </p:nvCxnSpPr>
        <p:spPr>
          <a:xfrm>
            <a:off x="4318000" y="4258524"/>
            <a:ext cx="4425950" cy="89302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84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2216-22CE-C7F1-FAE3-DB605A17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4B8AD1-ED52-C388-51BE-9501E5DEC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28F3B0-80C9-B1D4-903E-C3318438A9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8094662" cy="399494"/>
          </a:xfrm>
        </p:spPr>
        <p:txBody>
          <a:bodyPr>
            <a:normAutofit fontScale="62500" lnSpcReduction="20000"/>
          </a:bodyPr>
          <a:lstStyle/>
          <a:p>
            <a:r>
              <a:rPr kumimoji="1" lang="ko-KR" altLang="en-US" dirty="0"/>
              <a:t>코드 리뷰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D989E9-D415-5C45-CA47-0A2B4831C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806"/>
            <a:ext cx="7772400" cy="57867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7369363-AE9A-4E16-BED9-58462EF6E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831236"/>
            <a:ext cx="4294162" cy="14116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092CD5B-1E50-4938-8558-E3FEBDD5A10A}"/>
              </a:ext>
            </a:extLst>
          </p:cNvPr>
          <p:cNvSpPr/>
          <p:nvPr/>
        </p:nvSpPr>
        <p:spPr>
          <a:xfrm>
            <a:off x="584200" y="2393950"/>
            <a:ext cx="6788150" cy="3727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6B2A91A-2481-4BEB-B382-27A16E35615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372350" y="4257675"/>
            <a:ext cx="400050" cy="0"/>
          </a:xfrm>
          <a:prstGeom prst="straightConnector1">
            <a:avLst/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770421D0-95F4-EE1A-B2C8-509779F7D7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013" t="36728" r="31730" b="31801"/>
          <a:stretch>
            <a:fillRect/>
          </a:stretch>
        </p:blipFill>
        <p:spPr>
          <a:xfrm>
            <a:off x="8091105" y="2402695"/>
            <a:ext cx="3782190" cy="12481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F547CFD-0856-FA2A-7C10-39CEF4698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422" y="3371433"/>
            <a:ext cx="1741575" cy="116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CF9B829-8A7C-2AB6-CF01-1220FADD6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277929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A01AD84-B253-0C84-2398-B1D7945C5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481" y="528382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616175A-588C-3123-47A2-8709CCCCB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562" y="528382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89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AEF4-1870-4555-702A-2A374F4B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88E0ACB-9CD6-3499-D6D9-6FB017BB1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0DFEB9-670E-90F1-EDC7-D4A1244ACF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5938" y="208143"/>
            <a:ext cx="8094662" cy="399494"/>
          </a:xfrm>
        </p:spPr>
        <p:txBody>
          <a:bodyPr>
            <a:normAutofit fontScale="62500" lnSpcReduction="20000"/>
          </a:bodyPr>
          <a:lstStyle/>
          <a:p>
            <a:r>
              <a:rPr kumimoji="1" lang="ko-KR" altLang="en-US" dirty="0"/>
              <a:t>코드 리뷰</a:t>
            </a:r>
            <a:endParaRPr kumimoji="1"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366522-6A59-26B1-A451-A189639A0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2201"/>
            <a:ext cx="7772400" cy="601753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C0029CE-79C8-1E59-4B91-94578ED1E8FF}"/>
              </a:ext>
            </a:extLst>
          </p:cNvPr>
          <p:cNvSpPr/>
          <p:nvPr/>
        </p:nvSpPr>
        <p:spPr>
          <a:xfrm>
            <a:off x="515938" y="1404778"/>
            <a:ext cx="6565582" cy="167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9B58C1-7C1B-6ABA-986A-E17DDA539B74}"/>
              </a:ext>
            </a:extLst>
          </p:cNvPr>
          <p:cNvSpPr/>
          <p:nvPr/>
        </p:nvSpPr>
        <p:spPr>
          <a:xfrm>
            <a:off x="515938" y="4130198"/>
            <a:ext cx="3028950" cy="160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6671E9-1767-A100-EAD5-FAA3A6AB5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370738"/>
            <a:ext cx="4320372" cy="250335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3F14E17-6BDB-015F-11D0-B4DB49EBEEB0}"/>
              </a:ext>
            </a:extLst>
          </p:cNvPr>
          <p:cNvSpPr/>
          <p:nvPr/>
        </p:nvSpPr>
        <p:spPr>
          <a:xfrm>
            <a:off x="8288338" y="4290219"/>
            <a:ext cx="2425382" cy="782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76A28C-7714-50C5-D519-A9250DADC758}"/>
              </a:ext>
            </a:extLst>
          </p:cNvPr>
          <p:cNvSpPr/>
          <p:nvPr/>
        </p:nvSpPr>
        <p:spPr>
          <a:xfrm>
            <a:off x="8804676" y="3755189"/>
            <a:ext cx="440924" cy="375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AF23D-1385-E23D-70C2-4A2148DEDFCC}"/>
              </a:ext>
            </a:extLst>
          </p:cNvPr>
          <p:cNvSpPr/>
          <p:nvPr/>
        </p:nvSpPr>
        <p:spPr>
          <a:xfrm>
            <a:off x="515938" y="3572310"/>
            <a:ext cx="3487102" cy="262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2">
            <a:extLst>
              <a:ext uri="{FF2B5EF4-FFF2-40B4-BE49-F238E27FC236}">
                <a16:creationId xmlns:a16="http://schemas.microsoft.com/office/drawing/2014/main" id="{B89B1733-36BA-1EE9-EC87-23D1803D1902}"/>
              </a:ext>
            </a:extLst>
          </p:cNvPr>
          <p:cNvCxnSpPr>
            <a:cxnSpLocks/>
          </p:cNvCxnSpPr>
          <p:nvPr/>
        </p:nvCxnSpPr>
        <p:spPr>
          <a:xfrm>
            <a:off x="4003040" y="3680618"/>
            <a:ext cx="6893560" cy="584339"/>
          </a:xfrm>
          <a:prstGeom prst="bentConnector3">
            <a:avLst>
              <a:gd name="adj1" fmla="val 82572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2">
            <a:extLst>
              <a:ext uri="{FF2B5EF4-FFF2-40B4-BE49-F238E27FC236}">
                <a16:creationId xmlns:a16="http://schemas.microsoft.com/office/drawing/2014/main" id="{A378772C-321C-F685-4D10-BA9052B98669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544888" y="3934618"/>
            <a:ext cx="5259788" cy="275590"/>
          </a:xfrm>
          <a:prstGeom prst="bentConnector3">
            <a:avLst>
              <a:gd name="adj1" fmla="val 50000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2">
            <a:extLst>
              <a:ext uri="{FF2B5EF4-FFF2-40B4-BE49-F238E27FC236}">
                <a16:creationId xmlns:a16="http://schemas.microsoft.com/office/drawing/2014/main" id="{0430651E-720B-E7B1-B7BE-2CCB335B0AA8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7081520" y="2242978"/>
            <a:ext cx="1206818" cy="2438401"/>
          </a:xfrm>
          <a:prstGeom prst="bentConnector3">
            <a:avLst>
              <a:gd name="adj1" fmla="val 50000"/>
            </a:avLst>
          </a:prstGeom>
          <a:ln w="63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173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DBC7-D804-32E5-9DD2-0503E315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73414D9-07E5-A25A-D193-FE123647D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61ACA5-8697-464D-8616-4F68DF404BD9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57D7DC-5E40-8931-D2E7-2C7EDF5AE4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/>
              <a:t>끝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8703CA-FD89-6399-BEEF-151D3F1480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이상입니다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56466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740.1575"/>
  <p:tag name="LATEXADDIN" val="\documentclass{article}&#10;\usepackage{amsmath, amssymb}&#10;\pagestyle{empty}&#10;\begin{document}&#10;&#10;$&#10;\mathbf{x} \in \mathbb{R}^{H \times W \times C}&#10;$&#10;&#10;&#10;\end{document}"/>
  <p:tag name="IGUANATEXSIZE" val="20"/>
  <p:tag name="IGUANATEXCURSOR" val="10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.4799"/>
  <p:tag name="ORIGINALWIDTH" val="839.895"/>
  <p:tag name="LATEXADDIN" val="\documentclass{article}&#10;\usepackage{amsmath, amssymb}&#10;\pagestyle{empty}&#10;\begin{document}&#10;&#10;$&#10;\mathbf{x}_p \in \mathbb{R}^{N \times (P^2 \cdot C)}&#10;$&#10;&#10;&#10;\end{document}"/>
  <p:tag name="IGUANATEXSIZE" val="20"/>
  <p:tag name="IGUANATEXCURSOR" val="10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.74055"/>
  <p:tag name="ORIGINALWIDTH" val="104.9868"/>
  <p:tag name="LATEXADDIN" val="\documentclass{article}&#10;\usepackage{amsmath, amssymb}&#10;\pagestyle{empty}&#10;\begin{document}&#10;$&#10;\mathbf{z}_0&#10;$&#10;&#10;&#10;&#10;\end{document}"/>
  <p:tag name="IGUANATEXSIZE" val="20"/>
  <p:tag name="IGUANATEXCURSOR" val="9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24.4844"/>
  <p:tag name="LATEXADDIN" val="\documentclass{article}&#10;\usepackage{amsmath, amssymb}&#10;\pagestyle{empty}&#10;\begin{document}&#10;$&#10;\mathbf{z'} _ \mathit{l}&#10;$&#10;&#10;&#10;&#10;\end{document}"/>
  <p:tag name="IGUANATEXSIZE" val="20"/>
  <p:tag name="IGUANATEXCURSOR" val="10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89.23882"/>
  <p:tag name="LATEXADDIN" val="\documentclass{article}&#10;\usepackage{amsmath, amssymb}&#10;\pagestyle{empty}&#10;\begin{document}&#10;$&#10;\mathbf{z} _ \mathit{l}&#10;$&#10;&#10;&#10;&#10;\end{document}"/>
  <p:tag name="IGUANATEXSIZE" val="20"/>
  <p:tag name="IGUANATEXCURSOR" val="102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2000" smtClean="0">
            <a:latin typeface="Pretendard SemiBold" panose="02000703000000020004" pitchFamily="2" charset="-127"/>
            <a:ea typeface="Pretendard SemiBold" panose="02000703000000020004" pitchFamily="2" charset="-127"/>
            <a:cs typeface="Pretendard SemiBold" panose="02000703000000020004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729f727c-9062-4e2f-a82c-d0e3ee18d496" xsi:nil="true"/>
    <URL xmlns="729f727c-9062-4e2f-a82c-d0e3ee18d496">
      <Url xsi:nil="true"/>
      <Description xsi:nil="true"/>
    </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8C0C34C64B6D34FBD4060E63E1B0598" ma:contentTypeVersion="7" ma:contentTypeDescription="새 문서를 만듭니다." ma:contentTypeScope="" ma:versionID="b172facf52fe1ba54f2ed843afe7e583">
  <xsd:schema xmlns:xsd="http://www.w3.org/2001/XMLSchema" xmlns:xs="http://www.w3.org/2001/XMLSchema" xmlns:p="http://schemas.microsoft.com/office/2006/metadata/properties" xmlns:ns2="729f727c-9062-4e2f-a82c-d0e3ee18d496" targetNamespace="http://schemas.microsoft.com/office/2006/metadata/properties" ma:root="true" ma:fieldsID="eedee7c2dff26be26bff3175b16749a2" ns2:_="">
    <xsd:import namespace="729f727c-9062-4e2f-a82c-d0e3ee18d496"/>
    <xsd:element name="properties">
      <xsd:complexType>
        <xsd:sequence>
          <xsd:element name="documentManagement">
            <xsd:complexType>
              <xsd:all>
                <xsd:element ref="ns2:Descrip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UR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9f727c-9062-4e2f-a82c-d0e3ee18d496" elementFormDefault="qualified">
    <xsd:import namespace="http://schemas.microsoft.com/office/2006/documentManagement/types"/>
    <xsd:import namespace="http://schemas.microsoft.com/office/infopath/2007/PartnerControls"/>
    <xsd:element name="Description" ma:index="8" nillable="true" ma:displayName="Description" ma:description="파일에 대한 간단한 설명 작성" ma:format="Dropdown" ma:internalName="Description">
      <xsd:simpleType>
        <xsd:restriction base="dms:Note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URL" ma:index="12" nillable="true" ma:displayName="URL" ma:format="Hyperlink" ma:internalName="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C93F55-100B-4ACE-8537-709AE1A1CA40}">
  <ds:schemaRefs>
    <ds:schemaRef ds:uri="http://schemas.microsoft.com/office/2006/metadata/properties"/>
    <ds:schemaRef ds:uri="http://schemas.microsoft.com/office/infopath/2007/PartnerControls"/>
    <ds:schemaRef ds:uri="729f727c-9062-4e2f-a82c-d0e3ee18d496"/>
  </ds:schemaRefs>
</ds:datastoreItem>
</file>

<file path=customXml/itemProps2.xml><?xml version="1.0" encoding="utf-8"?>
<ds:datastoreItem xmlns:ds="http://schemas.openxmlformats.org/officeDocument/2006/customXml" ds:itemID="{8C1B73A7-54D2-4C23-BDE3-508E3BB497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9f727c-9062-4e2f-a82c-d0e3ee18d4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F8CE62-4FDF-40A8-8EA1-F76EB52143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12716</TotalTime>
  <Words>283</Words>
  <Application>Microsoft Macintosh PowerPoint</Application>
  <PresentationFormat>와이드스크린</PresentationFormat>
  <Paragraphs>84</Paragraphs>
  <Slides>15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맑은 고딕</vt:lpstr>
      <vt:lpstr>Pretendard</vt:lpstr>
      <vt:lpstr>Pretendard Bold</vt:lpstr>
      <vt:lpstr>Pretendard Medium</vt:lpstr>
      <vt:lpstr>Pretendard SemiBold</vt:lpstr>
      <vt:lpstr>Arial</vt:lpstr>
      <vt:lpstr>Cambria Math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cs.hong</dc:creator>
  <cp:lastModifiedBy>박연수</cp:lastModifiedBy>
  <cp:revision>1146</cp:revision>
  <dcterms:created xsi:type="dcterms:W3CDTF">2022-02-02T04:32:22Z</dcterms:created>
  <dcterms:modified xsi:type="dcterms:W3CDTF">2026-02-12T09:46:51Z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0x01010008C0C34C64B6D34FBD4060E63E1B0598</vt:lpwstr>
  </property>
</Properties>
</file>